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d4814fca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d4814fca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ce617cc9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ce617cc9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ce617cc9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ce617cc9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ce617cc9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ce617cc9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ce617cc9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ce617cc9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ce617cc9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ce617cc9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ce617cc9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ce617cc9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ce617cc9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ce617cc9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ce617cc9f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ce617cc9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ce617cc9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ce617cc9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180"/>
              <a:t>Parallel Implementation of CNN for Handwritten Digit Recognition</a:t>
            </a:r>
            <a:endParaRPr sz="41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946300" y="3526225"/>
            <a:ext cx="3018600" cy="7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Jithin Shaji (2023BCS0014)</a:t>
            </a:r>
            <a:br>
              <a:rPr lang="en-GB">
                <a:solidFill>
                  <a:schemeClr val="accent5"/>
                </a:solidFill>
              </a:rPr>
            </a:br>
            <a:r>
              <a:rPr lang="en-GB">
                <a:solidFill>
                  <a:schemeClr val="accent5"/>
                </a:solidFill>
              </a:rPr>
              <a:t>Alex Gijo    (2023BCS0023)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 CNN?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</a:t>
            </a:r>
            <a:r>
              <a:rPr lang="en-GB">
                <a:solidFill>
                  <a:schemeClr val="accent5"/>
                </a:solidFill>
              </a:rPr>
              <a:t>convolution</a:t>
            </a:r>
            <a:r>
              <a:rPr lang="en-GB"/>
              <a:t>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Convolution is the process by which local features from an image are extracted by applying a filter that slides across the input.</a:t>
            </a:r>
            <a:br>
              <a:rPr lang="en-GB" sz="1400"/>
            </a:br>
            <a:r>
              <a:rPr lang="en-GB" sz="1400"/>
              <a:t>Each </a:t>
            </a:r>
            <a:r>
              <a:rPr lang="en-GB" sz="1400">
                <a:solidFill>
                  <a:schemeClr val="accent5"/>
                </a:solidFill>
              </a:rPr>
              <a:t>filter extracts specific features</a:t>
            </a:r>
            <a:r>
              <a:rPr lang="en-GB" sz="1400"/>
              <a:t> (edges, textures, etc). There is a different filter for each channel.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Two</a:t>
            </a:r>
            <a:r>
              <a:rPr lang="en-GB"/>
              <a:t> key features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>
                <a:solidFill>
                  <a:schemeClr val="accent5"/>
                </a:solidFill>
              </a:rPr>
              <a:t>Path independence</a:t>
            </a:r>
            <a:r>
              <a:rPr lang="en-GB" sz="1400"/>
              <a:t> - Each neuron processes it’s receptive field independent of others.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>
                <a:solidFill>
                  <a:schemeClr val="accent5"/>
                </a:solidFill>
              </a:rPr>
              <a:t>Weight sharing</a:t>
            </a:r>
            <a:r>
              <a:rPr lang="en-GB" sz="1400"/>
              <a:t> - The same filter is applied </a:t>
            </a:r>
            <a:r>
              <a:rPr lang="en-GB" sz="1400"/>
              <a:t>across</a:t>
            </a:r>
            <a:r>
              <a:rPr lang="en-GB" sz="1400"/>
              <a:t> the image. Thus reducing parameters compared to a FNN.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Statement and Objectives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Implementing CNNs for MNIST Digit classification in C++.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Implementing complete training </a:t>
            </a:r>
            <a:r>
              <a:rPr lang="en-GB"/>
              <a:t>capabilities</a:t>
            </a:r>
            <a:r>
              <a:rPr lang="en-GB"/>
              <a:t> including </a:t>
            </a:r>
            <a:r>
              <a:rPr lang="en-GB">
                <a:solidFill>
                  <a:schemeClr val="accent5"/>
                </a:solidFill>
              </a:rPr>
              <a:t>forward propagation</a:t>
            </a:r>
            <a:r>
              <a:rPr lang="en-GB"/>
              <a:t>, </a:t>
            </a:r>
            <a:r>
              <a:rPr lang="en-GB">
                <a:solidFill>
                  <a:schemeClr val="accent5"/>
                </a:solidFill>
              </a:rPr>
              <a:t>backprop</a:t>
            </a:r>
            <a:r>
              <a:rPr lang="en-GB"/>
              <a:t>, and </a:t>
            </a:r>
            <a:r>
              <a:rPr lang="en-GB">
                <a:solidFill>
                  <a:schemeClr val="accent5"/>
                </a:solidFill>
              </a:rPr>
              <a:t>weight initialization and updates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chemeClr val="accent5"/>
                </a:solidFill>
              </a:rPr>
              <a:t>Identify and parallelize</a:t>
            </a:r>
            <a:r>
              <a:rPr lang="en-GB"/>
              <a:t> computationally intensive operations using OpenMP to achieve speedup on multi-core devices.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120250" y="157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761950" y="2950725"/>
            <a:ext cx="77703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/>
              <a:t>We use a </a:t>
            </a:r>
            <a:r>
              <a:rPr lang="en-GB" sz="1350">
                <a:solidFill>
                  <a:schemeClr val="accent5"/>
                </a:solidFill>
              </a:rPr>
              <a:t>Simple LeNet style architecture</a:t>
            </a:r>
            <a:r>
              <a:rPr lang="en-GB" sz="1350"/>
              <a:t> comprising of:</a:t>
            </a:r>
            <a:endParaRPr sz="1350"/>
          </a:p>
          <a:p>
            <a:pPr indent="-31432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Conv2D Layer: 1 -&gt; 6 channels, 5×5 kernel (156 parameters)</a:t>
            </a:r>
            <a:endParaRPr sz="1350"/>
          </a:p>
          <a:p>
            <a:pPr indent="-3143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ReLU Activation</a:t>
            </a:r>
            <a:endParaRPr sz="1350"/>
          </a:p>
          <a:p>
            <a:pPr indent="-3143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Sub-Sampling Layer (used as pooling): 6 -&gt; 6 channels, 4×4 kernel, stride 4 (486 parameters) </a:t>
            </a:r>
            <a:endParaRPr sz="1350"/>
          </a:p>
          <a:p>
            <a:pPr indent="-3143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ReLU Activation</a:t>
            </a:r>
            <a:endParaRPr sz="1350"/>
          </a:p>
          <a:p>
            <a:pPr indent="-3143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Flatten Layer</a:t>
            </a:r>
            <a:endParaRPr sz="1350"/>
          </a:p>
          <a:p>
            <a:pPr indent="-3143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Linear Layer: 216 -&gt; 10 (2170 parameters)</a:t>
            </a:r>
            <a:endParaRPr sz="1350"/>
          </a:p>
          <a:p>
            <a:pPr indent="-3143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Softmax Activation (for </a:t>
            </a:r>
            <a:r>
              <a:rPr lang="en-GB" sz="1350">
                <a:solidFill>
                  <a:schemeClr val="accent5"/>
                </a:solidFill>
              </a:rPr>
              <a:t>output probabilities </a:t>
            </a:r>
            <a:r>
              <a:rPr lang="en-GB" sz="1350"/>
              <a:t>for each class)</a:t>
            </a:r>
            <a:endParaRPr sz="1350"/>
          </a:p>
          <a:p>
            <a:pPr indent="-3143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Total: ~2812 parameters</a:t>
            </a:r>
            <a:endParaRPr sz="1350"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893" y="730575"/>
            <a:ext cx="7828409" cy="21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Implementation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Header functions</a:t>
            </a:r>
            <a:endParaRPr b="1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d</a:t>
            </a:r>
            <a:r>
              <a:rPr lang="en-GB" sz="1200"/>
              <a:t>ataloader.h : we need a dataloader </a:t>
            </a:r>
            <a:r>
              <a:rPr lang="en-GB" sz="1200">
                <a:solidFill>
                  <a:schemeClr val="accent5"/>
                </a:solidFill>
              </a:rPr>
              <a:t>similar to the DataLoader class in pytorch</a:t>
            </a:r>
            <a:r>
              <a:rPr lang="en-GB" sz="1200"/>
              <a:t> for smooth usage of data in the training and inference functions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layers.h : Various functions including forward propagation, backward propagation, gradient or </a:t>
            </a:r>
            <a:r>
              <a:rPr lang="en-GB" sz="1200"/>
              <a:t>derivative</a:t>
            </a:r>
            <a:r>
              <a:rPr lang="en-GB" sz="1200"/>
              <a:t> calculation is calculated here.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cnn.h : Tried to replicate the </a:t>
            </a:r>
            <a:r>
              <a:rPr lang="en-GB" sz="1200">
                <a:solidFill>
                  <a:schemeClr val="accent5"/>
                </a:solidFill>
              </a:rPr>
              <a:t>CNN class in nn.modules</a:t>
            </a:r>
            <a:r>
              <a:rPr lang="en-GB" sz="1200"/>
              <a:t> in pytorch. Has weight updation and initialization function, </a:t>
            </a:r>
            <a:r>
              <a:rPr lang="en-GB" sz="1200">
                <a:solidFill>
                  <a:schemeClr val="accent5"/>
                </a:solidFill>
              </a:rPr>
              <a:t>gradient reset</a:t>
            </a:r>
            <a:r>
              <a:rPr lang="en-GB" sz="1200"/>
              <a:t> to avoid gradient accumulation, sequential calling of the forward and backward functions implemented in layers.h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2"/>
                </a:solidFill>
              </a:rPr>
              <a:t>main.cpp</a:t>
            </a:r>
            <a:endParaRPr b="1" sz="1800">
              <a:solidFill>
                <a:schemeClr val="lt2"/>
              </a:solidFill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260650" y="1497050"/>
            <a:ext cx="4582500" cy="23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Consists of the training loop functions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Saves the model once training is complete.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Hyperparameters</a:t>
            </a:r>
            <a:r>
              <a:rPr lang="en-GB" sz="1600"/>
              <a:t> are defined here.</a:t>
            </a:r>
            <a:endParaRPr sz="1600"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31025"/>
            <a:ext cx="4242726" cy="22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209600" y="113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OpenMP Parallelization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458450" y="788750"/>
            <a:ext cx="8520600" cy="3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98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b="1" lang="en-GB" sz="1252"/>
              <a:t>Forward Pass:</a:t>
            </a:r>
            <a:br>
              <a:rPr b="1" lang="en-GB" sz="1052"/>
            </a:br>
            <a:r>
              <a:rPr lang="en-GB" sz="1052"/>
              <a:t>Parallelized </a:t>
            </a:r>
            <a:r>
              <a:rPr lang="en-GB" sz="1052">
                <a:solidFill>
                  <a:schemeClr val="accent5"/>
                </a:solidFill>
              </a:rPr>
              <a:t>matrix multiplications</a:t>
            </a:r>
            <a:r>
              <a:rPr lang="en-GB" sz="1052"/>
              <a:t> in convolution and fully connected layers to speed up computation.</a:t>
            </a:r>
            <a:br>
              <a:rPr lang="en-GB" sz="1052"/>
            </a:br>
            <a:endParaRPr sz="1052"/>
          </a:p>
          <a:p>
            <a:pPr indent="-3298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b="1" lang="en-GB" sz="1252"/>
              <a:t>Activation Functions:</a:t>
            </a:r>
            <a:br>
              <a:rPr b="1" lang="en-GB" sz="1052"/>
            </a:br>
            <a:r>
              <a:rPr lang="en-GB" sz="1052">
                <a:solidFill>
                  <a:schemeClr val="accent5"/>
                </a:solidFill>
              </a:rPr>
              <a:t>Applied activation functions</a:t>
            </a:r>
            <a:r>
              <a:rPr lang="en-GB" sz="1052"/>
              <a:t> (e.g., ReLU, Sigmoid) in parallel across neurons.</a:t>
            </a:r>
            <a:br>
              <a:rPr lang="en-GB" sz="1052"/>
            </a:br>
            <a:endParaRPr sz="1052"/>
          </a:p>
          <a:p>
            <a:pPr indent="-3298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b="1" lang="en-GB" sz="1252"/>
              <a:t>Subsampling Layers:</a:t>
            </a:r>
            <a:br>
              <a:rPr b="1" lang="en-GB" sz="1052"/>
            </a:br>
            <a:r>
              <a:rPr lang="en-GB" sz="1052"/>
              <a:t>Parallelized pooling operations (average/max) for </a:t>
            </a:r>
            <a:r>
              <a:rPr lang="en-GB" sz="1052">
                <a:solidFill>
                  <a:schemeClr val="accent5"/>
                </a:solidFill>
              </a:rPr>
              <a:t>independent regions of the feature map</a:t>
            </a:r>
            <a:r>
              <a:rPr lang="en-GB" sz="1052"/>
              <a:t>.</a:t>
            </a:r>
            <a:br>
              <a:rPr lang="en-GB" sz="1052"/>
            </a:br>
            <a:endParaRPr sz="1052"/>
          </a:p>
          <a:p>
            <a:pPr indent="-3298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b="1" lang="en-GB" sz="1252"/>
              <a:t>Backward Pass &amp; Gradients:</a:t>
            </a:r>
            <a:br>
              <a:rPr b="1" lang="en-GB" sz="1052"/>
            </a:br>
            <a:r>
              <a:rPr lang="en-GB" sz="1052"/>
              <a:t>Computed gradients for weights and activations in parallel during backpropagation.</a:t>
            </a:r>
            <a:br>
              <a:rPr lang="en-GB" sz="1052"/>
            </a:br>
            <a:endParaRPr sz="1052"/>
          </a:p>
          <a:p>
            <a:pPr indent="-3298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b="1" lang="en-GB" sz="1252"/>
              <a:t>Fully Connected Layer:</a:t>
            </a:r>
            <a:br>
              <a:rPr b="1" lang="en-GB" sz="1052"/>
            </a:br>
            <a:r>
              <a:rPr lang="en-GB" sz="1052"/>
              <a:t>Parallelized dot product operations for faster output computation.</a:t>
            </a:r>
            <a:br>
              <a:rPr lang="en-GB" sz="1052"/>
            </a:br>
            <a:endParaRPr sz="1052"/>
          </a:p>
          <a:p>
            <a:pPr indent="-3298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b="1" lang="en-GB" sz="1252"/>
              <a:t>Weight Initialization:</a:t>
            </a:r>
            <a:br>
              <a:rPr b="1" lang="en-GB" sz="1052"/>
            </a:br>
            <a:r>
              <a:rPr lang="en-GB" sz="1052">
                <a:solidFill>
                  <a:schemeClr val="accent5"/>
                </a:solidFill>
              </a:rPr>
              <a:t>Initialized weights in parallel</a:t>
            </a:r>
            <a:r>
              <a:rPr lang="en-GB" sz="1052"/>
              <a:t> across layers and neurons for faster setup.</a:t>
            </a:r>
            <a:br>
              <a:rPr lang="en-GB" sz="1052"/>
            </a:br>
            <a:endParaRPr sz="1052"/>
          </a:p>
          <a:p>
            <a:pPr indent="-3298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b="1" lang="en-GB" sz="1252"/>
              <a:t>DataLoader:</a:t>
            </a:r>
            <a:br>
              <a:rPr b="1" lang="en-GB" sz="1052"/>
            </a:br>
            <a:r>
              <a:rPr lang="en-GB" sz="1052"/>
              <a:t>Implemented </a:t>
            </a:r>
            <a:r>
              <a:rPr lang="en-GB" sz="1052">
                <a:solidFill>
                  <a:schemeClr val="accent5"/>
                </a:solidFill>
              </a:rPr>
              <a:t>parallel data loading</a:t>
            </a:r>
            <a:r>
              <a:rPr lang="en-GB" sz="1052"/>
              <a:t> (similar to PyTorch’s </a:t>
            </a:r>
            <a:r>
              <a:rPr lang="en-GB" sz="1052">
                <a:solidFill>
                  <a:schemeClr val="accent5"/>
                </a:solidFill>
              </a:rPr>
              <a:t>num_workers</a:t>
            </a:r>
            <a:r>
              <a:rPr lang="en-GB" sz="1052"/>
              <a:t>) to reduce I/O bottlenecks.</a:t>
            </a:r>
            <a:endParaRPr sz="139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Parallelization </a:t>
            </a:r>
            <a:r>
              <a:rPr lang="en-GB"/>
              <a:t>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32361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250">
                <a:solidFill>
                  <a:schemeClr val="accent5"/>
                </a:solidFill>
              </a:rPr>
              <a:t>The results speak for itself.</a:t>
            </a:r>
            <a:endParaRPr sz="125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450"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8723" y="1670175"/>
            <a:ext cx="5784976" cy="204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1857313" y="3787100"/>
            <a:ext cx="52278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-GB" sz="1250"/>
              <a:t>When running for 5 epochs with a batch size of 100 with 60k train images and 10k test images.</a:t>
            </a:r>
            <a:endParaRPr sz="4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190450" y="177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Findings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9291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/>
              <a:t>Sweet Spot at 8 Threads</a:t>
            </a:r>
            <a:endParaRPr b="1" sz="1100"/>
          </a:p>
          <a:p>
            <a:pPr indent="-29527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50"/>
              <a:buChar char="●"/>
            </a:pPr>
            <a:r>
              <a:rPr lang="en-GB" sz="1050"/>
              <a:t>Maximum speedup of </a:t>
            </a:r>
            <a:r>
              <a:rPr lang="en-GB" sz="1050">
                <a:solidFill>
                  <a:schemeClr val="accent5"/>
                </a:solidFill>
              </a:rPr>
              <a:t>3.40× achieved with 8 threads</a:t>
            </a:r>
            <a:br>
              <a:rPr lang="en-GB" sz="1050"/>
            </a:br>
            <a:endParaRPr sz="1050"/>
          </a:p>
          <a:p>
            <a:pPr indent="-2952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lang="en-GB" sz="1050"/>
              <a:t>Best training time: 82.50 seconds</a:t>
            </a:r>
            <a:br>
              <a:rPr lang="en-GB" sz="1050"/>
            </a:b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50"/>
              <a:t>Diminishing Returns Beyond 8 Threads</a:t>
            </a:r>
            <a:endParaRPr b="1" sz="1050"/>
          </a:p>
          <a:p>
            <a:pPr indent="-29527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50"/>
              <a:buChar char="●"/>
            </a:pPr>
            <a:r>
              <a:rPr lang="en-GB" sz="1050"/>
              <a:t>Performance drops with 16 threads, only 2.45× speedup (vs 3.40×)</a:t>
            </a:r>
            <a:br>
              <a:rPr lang="en-GB" sz="1050"/>
            </a:br>
            <a:endParaRPr sz="1050"/>
          </a:p>
          <a:p>
            <a:pPr indent="-2952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lang="en-GB" sz="1050"/>
              <a:t>Caused by thread management </a:t>
            </a:r>
            <a:r>
              <a:rPr lang="en-GB" sz="1050">
                <a:solidFill>
                  <a:schemeClr val="accent5"/>
                </a:solidFill>
              </a:rPr>
              <a:t>overhead</a:t>
            </a:r>
            <a:r>
              <a:rPr lang="en-GB" sz="1050"/>
              <a:t>.</a:t>
            </a:r>
            <a:br>
              <a:rPr lang="en-GB" sz="1050"/>
            </a:b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/>
              <a:t>Activation Functions &amp; Learning Rate Impact</a:t>
            </a:r>
            <a:endParaRPr b="1" sz="1300"/>
          </a:p>
          <a:p>
            <a:pPr indent="-29527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50"/>
              <a:buChar char="●"/>
            </a:pPr>
            <a:r>
              <a:rPr lang="en-GB" sz="1050"/>
              <a:t>Initially used Sigmoid, matching early CNN architectures</a:t>
            </a:r>
            <a:br>
              <a:rPr lang="en-GB" sz="1050"/>
            </a:br>
            <a:endParaRPr sz="1050"/>
          </a:p>
          <a:p>
            <a:pPr indent="-2952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lang="en-GB" sz="1050"/>
              <a:t>Switched to ReLU (hidden layers) and Softmax (output layer) for modern practice</a:t>
            </a:r>
            <a:br>
              <a:rPr lang="en-GB" sz="1050"/>
            </a:br>
            <a:endParaRPr sz="1050"/>
          </a:p>
          <a:p>
            <a:pPr indent="-2952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lang="en-GB" sz="1050"/>
              <a:t>After switching, accuracy dropped (~18%) and loss increased (~2.3)</a:t>
            </a:r>
            <a:br>
              <a:rPr lang="en-GB" sz="1050"/>
            </a:br>
            <a:r>
              <a:rPr lang="en-GB" sz="1050"/>
              <a:t>due to high learning rate (0.1) unsuitable for ReLU</a:t>
            </a:r>
            <a:br>
              <a:rPr lang="en-GB" sz="1050"/>
            </a:br>
            <a:endParaRPr sz="1050"/>
          </a:p>
          <a:p>
            <a:pPr indent="-2952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lang="en-GB" sz="1050"/>
              <a:t>Reducing learning rate to 0.01 drastically improved results:</a:t>
            </a:r>
            <a:br>
              <a:rPr lang="en-GB" sz="1050"/>
            </a:br>
            <a:r>
              <a:rPr lang="en-GB" sz="1050"/>
              <a:t>99.70% training accuracy and 96.80% test accuracy within 5 epochs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75">
              <a:solidFill>
                <a:srgbClr val="DADADA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75">
              <a:solidFill>
                <a:srgbClr val="DADADA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875">
              <a:solidFill>
                <a:srgbClr val="DADADA"/>
              </a:solidFill>
              <a:highlight>
                <a:srgbClr val="1E1E1E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9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300"/>
              <a:buChar char="●"/>
            </a:pPr>
            <a:r>
              <a:rPr lang="en-GB" sz="1300">
                <a:solidFill>
                  <a:srgbClr val="DADADA"/>
                </a:solidFill>
              </a:rPr>
              <a:t>The OpenMP parallelization successfully achieved significant performance improvements, with the optimal configuration being </a:t>
            </a:r>
            <a:r>
              <a:rPr lang="en-GB" sz="1300">
                <a:solidFill>
                  <a:schemeClr val="accent5"/>
                </a:solidFill>
              </a:rPr>
              <a:t>8 threads providing a 3.40x speedup</a:t>
            </a:r>
            <a:r>
              <a:rPr lang="en-GB" sz="1300">
                <a:solidFill>
                  <a:srgbClr val="DADADA"/>
                </a:solidFill>
              </a:rPr>
              <a:t>. The implementation demonstrates a good understanding of parallel programming principles, with consistent performance gains through the 2-8 thread range.</a:t>
            </a:r>
            <a:endParaRPr sz="1300">
              <a:solidFill>
                <a:srgbClr val="DADADA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DADADA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DADADA"/>
              </a:buClr>
              <a:buSzPts val="1300"/>
              <a:buChar char="●"/>
            </a:pPr>
            <a:r>
              <a:rPr lang="en-GB" sz="1300">
                <a:solidFill>
                  <a:srgbClr val="DADADA"/>
                </a:solidFill>
              </a:rPr>
              <a:t>The results show that careful tuning is required for optimal performance, and that more threads do not always equal better performance. </a:t>
            </a:r>
            <a:r>
              <a:rPr lang="en-GB" sz="1300">
                <a:solidFill>
                  <a:schemeClr val="accent5"/>
                </a:solidFill>
              </a:rPr>
              <a:t>Note More threads can mean more performance for a more deeper CNN with multiple conv layers.</a:t>
            </a:r>
            <a:endParaRPr sz="13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DADADA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DADADA"/>
              </a:buClr>
              <a:buSzPts val="1300"/>
              <a:buChar char="●"/>
            </a:pPr>
            <a:r>
              <a:rPr lang="en-GB" sz="1300">
                <a:solidFill>
                  <a:srgbClr val="DADADA"/>
                </a:solidFill>
              </a:rPr>
              <a:t>In the future, this project can be extended to Cuda, which would require us to define our </a:t>
            </a:r>
            <a:r>
              <a:rPr lang="en-GB" sz="1300">
                <a:solidFill>
                  <a:schemeClr val="accent5"/>
                </a:solidFill>
              </a:rPr>
              <a:t>own custom C++ vector class</a:t>
            </a:r>
            <a:r>
              <a:rPr lang="en-GB" sz="1300">
                <a:solidFill>
                  <a:srgbClr val="DADADA"/>
                </a:solidFill>
              </a:rPr>
              <a:t> and move out of the stl vector class we use as </a:t>
            </a:r>
            <a:r>
              <a:rPr lang="en-GB" sz="1300">
                <a:solidFill>
                  <a:schemeClr val="accent5"/>
                </a:solidFill>
              </a:rPr>
              <a:t>Cuda works with memory addresses only</a:t>
            </a:r>
            <a:r>
              <a:rPr lang="en-GB" sz="1300">
                <a:solidFill>
                  <a:srgbClr val="DADADA"/>
                </a:solidFill>
              </a:rPr>
              <a:t>. </a:t>
            </a:r>
            <a:br>
              <a:rPr lang="en-GB" sz="1300">
                <a:solidFill>
                  <a:srgbClr val="DADADA"/>
                </a:solidFill>
              </a:rPr>
            </a:br>
            <a:r>
              <a:rPr lang="en-GB" sz="1300">
                <a:solidFill>
                  <a:srgbClr val="DADADA"/>
                </a:solidFill>
              </a:rPr>
              <a:t>This requires a </a:t>
            </a:r>
            <a:r>
              <a:rPr lang="en-GB" sz="1300">
                <a:solidFill>
                  <a:schemeClr val="accent5"/>
                </a:solidFill>
              </a:rPr>
              <a:t>deep-understanding of GPU architecture and C++</a:t>
            </a:r>
            <a:r>
              <a:rPr lang="en-GB" sz="1300">
                <a:solidFill>
                  <a:srgbClr val="DADADA"/>
                </a:solidFill>
              </a:rPr>
              <a:t> and is to be completed when that is achieved first.</a:t>
            </a:r>
            <a:endParaRPr sz="1300">
              <a:solidFill>
                <a:srgbClr val="DADAD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528450" y="218575"/>
            <a:ext cx="208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2224" y="862875"/>
            <a:ext cx="3474000" cy="402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